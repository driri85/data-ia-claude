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-ia-claude.arsdv.site/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riri85/data-ia-claude" TargetMode="External"/><Relationship Id="rId2" Type="http://schemas.openxmlformats.org/officeDocument/2006/relationships/hyperlink" Target="https://data-ia-claude.arsdv.site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8895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8BDF8"/>
                </a:solidFill>
              </a:rPr>
              <a:t>Prediction &amp;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Dataset Diabetes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BD5E1"/>
                </a:solidFill>
              </a:rPr>
              <a:t>Predire la progression du diabete  |  Segmenter les profils patients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CBD5E1"/>
                </a:solidFill>
              </a:rPr>
              <a:t>Adrien &amp; </a:t>
            </a:r>
            <a:r>
              <a:rPr lang="fr-FR" sz="1500" dirty="0">
                <a:solidFill>
                  <a:srgbClr val="CBD5E1"/>
                </a:solidFill>
              </a:rPr>
              <a:t>Nathan </a:t>
            </a:r>
            <a:r>
              <a:rPr sz="1500" b="0" dirty="0">
                <a:solidFill>
                  <a:srgbClr val="CBD5E1"/>
                </a:solidFill>
              </a:rPr>
              <a:t>--  B3 Data &amp; IA  --  Sup de Vinci Nantes  --  27 </a:t>
            </a:r>
            <a:r>
              <a:rPr sz="1500" b="0" dirty="0" err="1">
                <a:solidFill>
                  <a:srgbClr val="CBD5E1"/>
                </a:solidFill>
              </a:rPr>
              <a:t>mai</a:t>
            </a:r>
            <a:r>
              <a:rPr sz="1500" b="0" dirty="0">
                <a:solidFill>
                  <a:srgbClr val="CBD5E1"/>
                </a:solidFill>
              </a:rPr>
              <a:t>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5212080"/>
            <a:ext cx="1645920" cy="4114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scikit-learn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5212080"/>
            <a:ext cx="1645920" cy="4114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React + Vite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79" y="5212080"/>
            <a:ext cx="1645920" cy="4114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FastAPI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5212080"/>
            <a:ext cx="1645920" cy="411480"/>
          </a:xfrm>
          <a:prstGeom prst="rect">
            <a:avLst/>
          </a:prstGeom>
          <a:solidFill>
            <a:srgbClr val="F4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fr-FR" sz="1300" b="1" dirty="0">
                <a:solidFill>
                  <a:srgbClr val="0F172A"/>
                </a:solidFill>
              </a:rPr>
              <a:t>Hébergement</a:t>
            </a:r>
            <a:endParaRPr sz="1300" b="1" dirty="0">
              <a:solidFill>
                <a:srgbClr val="0F172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</a:rPr>
              <a:t>Plan -- 10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594360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698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Probleme metier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1097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</a:rPr>
              <a:t>~2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94360" cy="5029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Pipeline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920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</a:rPr>
              <a:t>~2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94360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157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Modeles ML : regression + clustering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</a:rPr>
              <a:t>~2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594360" cy="502920"/>
          </a:xfrm>
          <a:prstGeom prst="rect">
            <a:avLst/>
          </a:prstGeom>
          <a:solidFill>
            <a:srgbClr val="F4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387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Demo live -- app deployee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566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</a:rPr>
              <a:t>~2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97680"/>
            <a:ext cx="594360" cy="502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36168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Limites &amp; perspectives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</a:rPr>
              <a:t>~1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120640"/>
            <a:ext cx="594360" cy="5029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1846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5212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BD5E1"/>
                </a:solidFill>
              </a:rPr>
              <a:t>~3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548640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Probleme metier &amp;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39496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</a:rPr>
              <a:t>Le probleme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</a:rPr>
              <a:t>Qui ?  Medecins / chercheurs en sante
Quoi ?  Predire la progression du diabete
1 an apres le diagnostic, a partir de
mesures biologiques initiales
Pourquoi ?  Identifier les patients a risque
plus tot = meilleure prise en charge
Bonus : segmenter les patients en profils
pour personnaliser le suivi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60120"/>
            <a:ext cx="548640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</a:rPr>
              <a:t>Le dataset -- sklearn diabetes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Source : sklearn.datasets.load_diabetes
(UCI / NIDDK -- reference ML biomedical)
Taille : 442 patients x 10 features + 1 cible
Features : age, sex, bmi, bp,
s1 (tc), s2 (ldl), s3 (hdl), s4, s5 (ltg), s6 (glu)
(deja normalises entre -0.2 et +0.2)
Cible : progression du diabete a 1 an
(valeur continue, 25 a 346)
Limites :
  - 442 observations = dataset petit
  - Donnees de 1990s, patients US seulement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8BDF8"/>
                </a:solidFill>
              </a:rPr>
              <a:t>Critere : Comprehension du probleme + dataset  /3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548640" cy="457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Pipeline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788920" cy="4663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</a:rPr>
              <a:t>1. Chargement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514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load_diabetes()
442 lignes x 11 cols
Donnees deja pre-traitees
(normalisation sklearn)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97180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-&gt;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05840"/>
            <a:ext cx="2788920" cy="4663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47288" y="1097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</a:rPr>
              <a:t>2. 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600200"/>
            <a:ext cx="2514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describe() + heatmap
Correlation
bmi / s5 les plus
correlees a la cible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9048" y="297180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005840"/>
            <a:ext cx="2788920" cy="4663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1097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</a:rPr>
              <a:t>3. Preprocessing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1600200"/>
            <a:ext cx="2514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SimpleImputer(median)
+ StandardScaler
via ColumnTransformer
+ Pipeline sklearn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97180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1005840"/>
            <a:ext cx="2788920" cy="4663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36024" y="1097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</a:rPr>
              <a:t>4.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1600200"/>
            <a:ext cx="2514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train_test_split
60 / 20 / 20
random_state=42
=&gt; reproductible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760720"/>
            <a:ext cx="11430000" cy="594360"/>
          </a:xfrm>
          <a:prstGeom prst="rect">
            <a:avLst/>
          </a:prstGeom>
          <a:solidFill>
            <a:srgbClr val="12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4D399"/>
                </a:solidFill>
              </a:rPr>
              <a:t>random_state=42 partout  |  Pipeline sklearn = reproductible  |  train 264 / val 89 / test 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4D399"/>
                </a:solidFill>
              </a:rPr>
              <a:t>Critere : Pipeline data  /3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548640" cy="457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Modeles ML : Regression +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57784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</a:rPr>
              <a:t>REGRESSION -- Predire la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5303520" cy="1234440"/>
          </a:xfrm>
          <a:prstGeom prst="rect">
            <a:avLst/>
          </a:prstGeom>
          <a:solidFill>
            <a:srgbClr val="2A1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BBF24"/>
                </a:solidFill>
              </a:rPr>
              <a:t>R2 = 0.5232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52% de la variance expliquee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Modele retenu : VotingRegressor
  Ridge (alpha=10) + Lasso (alpha=0.1)
  + ElasticNet (alpha=0.1, l1=0.5)
Pourquoi cette metrique ?
Regression continue =&gt; R2 mesure la part
de variance capturee (1 = parfait)
Pourquoi Voting ?
Stabilise les predictions en moyennant
les erreurs de 3 regularisations differentes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57784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0515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7FFF"/>
                </a:solidFill>
              </a:rPr>
              <a:t>CLUSTERING -- Segmenter les patients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508760"/>
            <a:ext cx="5303520" cy="1234440"/>
          </a:xfrm>
          <a:prstGeom prst="rect">
            <a:avLst/>
          </a:prstGeom>
          <a:solidFill>
            <a:srgbClr val="1E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47FFF"/>
                </a:solidFill>
              </a:rPr>
              <a:t>Silhouette = 0.6015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cible 0.6 atteinte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8036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Modele retenu : AgglomerativeClustering
  4 clusters  |  features : sex + bmi
Distribution :
  Cluster 0 : 170 patients
  Cluster 1 :  85 patients
  Cluster 2 : 150 patients
  Cluster 3 :  37 patients
Recherche auto parmi KMeans + Agglomerative
sur toutes paires de features (2 a 6 clusters)
=&gt; meilleur score silhouette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BBF24"/>
                </a:solidFill>
              </a:rPr>
              <a:t>Critere : Modele ML qui tourne  /4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F4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548640" cy="457200"/>
          </a:xfrm>
          <a:prstGeom prst="rect">
            <a:avLst/>
          </a:prstGeom>
          <a:solidFill>
            <a:srgbClr val="F4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Demo live -- App deployee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0" y="1280160"/>
            <a:ext cx="5943600" cy="1645920"/>
          </a:xfrm>
          <a:prstGeom prst="rect">
            <a:avLst/>
          </a:prstGeom>
          <a:solidFill>
            <a:srgbClr val="1A0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08960" y="14630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47FFF"/>
                </a:solidFill>
              </a:rPr>
              <a:t>DEMO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240280"/>
            <a:ext cx="5943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500" dirty="0">
                <a:solidFill>
                  <a:srgbClr val="CBD5E1"/>
                </a:solidFill>
                <a:hlinkClick r:id="rId2"/>
              </a:rPr>
              <a:t>https://data-ia-claude.arsdv.site</a:t>
            </a:r>
            <a:endParaRPr sz="1500" b="0" dirty="0">
              <a:solidFill>
                <a:srgbClr val="CBD5E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BD5E1"/>
                </a:solidFill>
              </a:rPr>
              <a:t>Ce que montre la demo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4D399"/>
                </a:solidFill>
              </a:rPr>
              <a:t>[OK]  Saisie des 10 features biologiques dans le formulaire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4D399"/>
                </a:solidFill>
              </a:rPr>
              <a:t>[OK]  Prediction de progression renvoyee par FastAPI (model-regression.pkl)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4D399"/>
                </a:solidFill>
              </a:rPr>
              <a:t>[OK]  Clustering : affichage du profil patient (cluster 0-3)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10698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34D399"/>
                </a:solidFill>
              </a:rPr>
              <a:t>[OK]  URL </a:t>
            </a:r>
            <a:r>
              <a:rPr sz="1500" b="0" dirty="0" err="1">
                <a:solidFill>
                  <a:srgbClr val="34D399"/>
                </a:solidFill>
              </a:rPr>
              <a:t>publique</a:t>
            </a:r>
            <a:r>
              <a:rPr sz="1500" b="0" dirty="0">
                <a:solidFill>
                  <a:srgbClr val="34D399"/>
                </a:solidFill>
              </a:rPr>
              <a:t> -- 0 EUR/</a:t>
            </a:r>
            <a:r>
              <a:rPr sz="1500" b="0" dirty="0" err="1">
                <a:solidFill>
                  <a:srgbClr val="34D399"/>
                </a:solidFill>
              </a:rPr>
              <a:t>mois</a:t>
            </a:r>
            <a:r>
              <a:rPr sz="1500" b="0" dirty="0">
                <a:solidFill>
                  <a:srgbClr val="34D399"/>
                </a:solidFill>
              </a:rPr>
              <a:t> sur </a:t>
            </a:r>
            <a:r>
              <a:rPr lang="fr-FR" sz="1500" b="0" dirty="0">
                <a:solidFill>
                  <a:srgbClr val="34D399"/>
                </a:solidFill>
              </a:rPr>
              <a:t>un serveur chez Adrien</a:t>
            </a:r>
            <a:endParaRPr sz="1500" b="0" dirty="0">
              <a:solidFill>
                <a:srgbClr val="34D399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39496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BBF24"/>
                </a:solidFill>
              </a:rPr>
              <a:t>[BONUS]  CI/CD : git push =&gt; redeploi automatique (bonus +1)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47FFF"/>
                </a:solidFill>
              </a:rPr>
              <a:t>Critere : App + deploiement  /5  (critere le plus lourd)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548640" cy="4572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F172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Limites &amp;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39496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</a:rPr>
              <a:t>Limites identifiees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442 observations = dataset trop petit pour generaliser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31136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R2 = 0.52 : la moitie de la variance reste inexpliquee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5351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Donnees des annees 90, patients US uniquement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75887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Pas de cross-validation (manque de temps)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98264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Pas de gestion des entrees aberrantes (ex: bmi=99)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Scale : 1 user OK, 100 simultanes non teste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960120"/>
            <a:ext cx="5577840" cy="5166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05156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600" b="1" dirty="0">
                <a:solidFill>
                  <a:srgbClr val="34D399"/>
                </a:solidFill>
              </a:rPr>
              <a:t>Et après …</a:t>
            </a:r>
            <a:endParaRPr sz="1600" b="1" dirty="0">
              <a:solidFill>
                <a:srgbClr val="34D399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-&gt; Cross-validation + GridSearchCV (meilleur R2)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6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-&gt; Dataset medical plus recent et plus grand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5351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-&gt; Random Forest / XGBoost pour comparaison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75887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-&gt; Monitoring des predictions en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98264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-&gt; Interface medecin : historique patient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206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  -&gt; Test de charge (Gunicorn multi-workers)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</a:rPr>
              <a:t>Q&amp;A -- Reponses preparees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Q1: En une phrase, c'est quoi le probleme que votre app resout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5272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D399"/>
                </a:solidFill>
              </a:rPr>
              <a:t>Predire la progression du diabete a 1 an pour aider les medecins a identifier les patients a risque plus tot.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64792"/>
            <a:ext cx="114300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0136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Q2: Quelle metrique et pourquoi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D399"/>
                </a:solidFill>
              </a:rPr>
              <a:t>R2 = 0.52 car c'est une regression continue. R2 mesure la part de variance expliquee (1 = parfait, 0 = modele nul).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24912"/>
            <a:ext cx="114300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7614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Q3: Comment vous redeployez apres un bug ce soir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7296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D399"/>
                </a:solidFill>
              </a:rPr>
              <a:t>Git push =&gt; CI/CD GitHub Actions se declenche =&gt; HF Spaces se redeploie automatiquement.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85032"/>
            <a:ext cx="114300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7216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Q4: Combien coute votre app par mois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330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4D399"/>
                </a:solidFill>
              </a:rPr>
              <a:t>0 EUR -- HF Spaces free tier. Pas de </a:t>
            </a:r>
            <a:r>
              <a:rPr sz="1200" b="0" dirty="0" err="1">
                <a:solidFill>
                  <a:srgbClr val="34D399"/>
                </a:solidFill>
              </a:rPr>
              <a:t>serveur</a:t>
            </a:r>
            <a:r>
              <a:rPr sz="1200" b="0" dirty="0">
                <a:solidFill>
                  <a:srgbClr val="34D399"/>
                </a:solidFill>
              </a:rPr>
              <a:t> a </a:t>
            </a:r>
            <a:r>
              <a:rPr sz="1200" b="0" dirty="0" err="1">
                <a:solidFill>
                  <a:srgbClr val="34D399"/>
                </a:solidFill>
              </a:rPr>
              <a:t>gerer</a:t>
            </a:r>
            <a:r>
              <a:rPr sz="1200" b="0" dirty="0">
                <a:solidFill>
                  <a:srgbClr val="34D399"/>
                </a:solidFill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645152"/>
            <a:ext cx="114300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68172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Q5: 100 utilisateurs en meme temps, ca tient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9320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D399"/>
                </a:solidFill>
              </a:rPr>
              <a:t>Probablement pas : FastAPI tourne en mono-worker. On ajouterait Gunicorn avec plusieurs workers.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605272"/>
            <a:ext cx="1143000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5641848"/>
            <a:ext cx="11064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</a:rPr>
              <a:t>Q6: Avec </a:t>
            </a:r>
            <a:r>
              <a:rPr lang="fr-FR" sz="1400" b="1" dirty="0">
                <a:solidFill>
                  <a:srgbClr val="FFFFFF"/>
                </a:solidFill>
              </a:rPr>
              <a:t>plus de temps</a:t>
            </a:r>
            <a:r>
              <a:rPr sz="1400" b="1" dirty="0">
                <a:solidFill>
                  <a:srgbClr val="FFFFFF"/>
                </a:solidFill>
              </a:rPr>
              <a:t>, vous </a:t>
            </a:r>
            <a:r>
              <a:rPr sz="1400" b="1" dirty="0" err="1">
                <a:solidFill>
                  <a:srgbClr val="FFFFFF"/>
                </a:solidFill>
              </a:rPr>
              <a:t>auriez</a:t>
            </a:r>
            <a:r>
              <a:rPr sz="1400" b="1" dirty="0">
                <a:solidFill>
                  <a:srgbClr val="FFFFFF"/>
                </a:solidFill>
              </a:rPr>
              <a:t> fait quoi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D399"/>
                </a:solidFill>
              </a:rPr>
              <a:t>Cross-validation pour un R2 plus fiable, dataset plus recent, Random Forest pour comparer.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8895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Merci 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38BDF8"/>
                </a:solidFill>
              </a:rPr>
              <a:t>Questions 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383280"/>
            <a:ext cx="11247120" cy="137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6984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700" dirty="0">
                <a:solidFill>
                  <a:srgbClr val="CBD5E1"/>
                </a:solidFill>
                <a:hlinkClick r:id="rId2"/>
              </a:rPr>
              <a:t>https://data-ia-claude.arsdv.site</a:t>
            </a:r>
            <a:r>
              <a:rPr lang="fr-FR" sz="1700" dirty="0">
                <a:solidFill>
                  <a:srgbClr val="CBD5E1"/>
                </a:solidFill>
              </a:rPr>
              <a:t> </a:t>
            </a:r>
            <a:r>
              <a:rPr sz="1700" b="0" dirty="0">
                <a:solidFill>
                  <a:srgbClr val="CBD5E1"/>
                </a:solidFill>
              </a:rPr>
              <a:t>|  </a:t>
            </a:r>
            <a:r>
              <a:rPr lang="fr-FR" sz="1700" b="0" dirty="0">
                <a:solidFill>
                  <a:srgbClr val="CBD5E1"/>
                </a:solidFill>
                <a:hlinkClick r:id="rId3"/>
              </a:rPr>
              <a:t>https://</a:t>
            </a:r>
            <a:r>
              <a:rPr sz="1700" b="0" dirty="0">
                <a:solidFill>
                  <a:srgbClr val="CBD5E1"/>
                </a:solidFill>
                <a:hlinkClick r:id="rId3"/>
              </a:rPr>
              <a:t>github.com/</a:t>
            </a:r>
            <a:r>
              <a:rPr lang="fr-FR" sz="1700" dirty="0">
                <a:solidFill>
                  <a:srgbClr val="CBD5E1"/>
                </a:solidFill>
                <a:hlinkClick r:id="rId3"/>
              </a:rPr>
              <a:t>driri85/data-</a:t>
            </a:r>
            <a:r>
              <a:rPr lang="fr-FR" sz="1700" dirty="0" err="1">
                <a:solidFill>
                  <a:srgbClr val="CBD5E1"/>
                </a:solidFill>
                <a:hlinkClick r:id="rId3"/>
              </a:rPr>
              <a:t>ia</a:t>
            </a:r>
            <a:r>
              <a:rPr lang="fr-FR" sz="1700" dirty="0">
                <a:solidFill>
                  <a:srgbClr val="CBD5E1"/>
                </a:solidFill>
                <a:hlinkClick r:id="rId3"/>
              </a:rPr>
              <a:t>-</a:t>
            </a:r>
            <a:r>
              <a:rPr lang="fr-FR" sz="1700" dirty="0" err="1">
                <a:solidFill>
                  <a:srgbClr val="CBD5E1"/>
                </a:solidFill>
                <a:hlinkClick r:id="rId3"/>
              </a:rPr>
              <a:t>claude</a:t>
            </a:r>
            <a:endParaRPr sz="1700" b="0" dirty="0">
              <a:solidFill>
                <a:srgbClr val="CBD5E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" y="4617720"/>
            <a:ext cx="173736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8BDF8"/>
                </a:solidFill>
              </a:rPr>
              <a:t>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49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Probleme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39" y="4617720"/>
            <a:ext cx="173736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77439" y="46634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399"/>
                </a:solidFill>
              </a:rPr>
              <a:t>/3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39" y="5349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39" y="56692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4617720"/>
            <a:ext cx="173736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59" y="46634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BBF24"/>
                </a:solidFill>
              </a:rPr>
              <a:t>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5349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Modele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56692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4617720"/>
            <a:ext cx="173736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79" y="46634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47FFF"/>
                </a:solidFill>
              </a:rPr>
              <a:t>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9" y="5349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App 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9" y="56692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Deploy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4617720"/>
            <a:ext cx="1737360" cy="1554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46634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BD5E1"/>
                </a:solidFill>
              </a:rPr>
              <a:t>/5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5349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Oral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4617720"/>
            <a:ext cx="1737360" cy="15544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75520" y="46634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BBF24"/>
                </a:solidFill>
              </a:rPr>
              <a:t>/20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349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TOTAL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1034</Words>
  <Application>Microsoft Office PowerPoint</Application>
  <PresentationFormat>Personnalisé</PresentationFormat>
  <Paragraphs>119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RANDONNET Adrien</cp:lastModifiedBy>
  <cp:revision>3</cp:revision>
  <dcterms:created xsi:type="dcterms:W3CDTF">2013-01-27T09:14:16Z</dcterms:created>
  <dcterms:modified xsi:type="dcterms:W3CDTF">2026-05-27T12:36:12Z</dcterms:modified>
  <cp:category/>
</cp:coreProperties>
</file>